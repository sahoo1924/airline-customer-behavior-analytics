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9"/>
  </p:notesMasterIdLst>
  <p:sldIdLst>
    <p:sldId id="256" r:id="rId3"/>
    <p:sldId id="571" r:id="rId4"/>
    <p:sldId id="572" r:id="rId5"/>
    <p:sldId id="573" r:id="rId6"/>
    <p:sldId id="574" r:id="rId7"/>
    <p:sldId id="580" r:id="rId8"/>
    <p:sldId id="575" r:id="rId9"/>
    <p:sldId id="581" r:id="rId10"/>
    <p:sldId id="582" r:id="rId11"/>
    <p:sldId id="576" r:id="rId12"/>
    <p:sldId id="583" r:id="rId13"/>
    <p:sldId id="584" r:id="rId14"/>
    <p:sldId id="577" r:id="rId15"/>
    <p:sldId id="579" r:id="rId16"/>
    <p:sldId id="578" r:id="rId17"/>
    <p:sldId id="536"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93" d="100"/>
          <a:sy n="93" d="100"/>
        </p:scale>
        <p:origin x="274"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presentation/d/17S6UGQ2sBknhRajPlH0PABufKV6CnmHU/edit?usp=drive_link&amp;ouid=108601320515866479790&amp;rtpof=true&amp;sd=true" TargetMode="External"/><Relationship Id="rId2" Type="http://schemas.openxmlformats.org/officeDocument/2006/relationships/hyperlink" Target="https://drive.google.com/file/d/1XQq6MhR_X67NDJUbmwXy4gzM2jknnSP-/view?usp=sharing"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power-bi/" TargetMode="External"/><Relationship Id="rId2" Type="http://schemas.openxmlformats.org/officeDocument/2006/relationships/hyperlink" Target="https://www.kaggle.com/datasets/teejmahal20/airline-passenger-satisfaction" TargetMode="External"/><Relationship Id="rId1" Type="http://schemas.openxmlformats.org/officeDocument/2006/relationships/slideLayout" Target="../slideLayouts/slideLayout3.xml"/><Relationship Id="rId5" Type="http://schemas.openxmlformats.org/officeDocument/2006/relationships/hyperlink" Target="https://learn.microsoft.com/en-us/dax/" TargetMode="External"/><Relationship Id="rId4" Type="http://schemas.openxmlformats.org/officeDocument/2006/relationships/hyperlink" Target="https://learn.microsoft.com/en-us/power-bi/visuals/power-bi-report-add-visualizations"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373514" y="779440"/>
            <a:ext cx="4013432" cy="5272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smtClean="0"/>
              <a:t>PROJECT</a:t>
            </a:r>
            <a:endParaRPr lang="en-US" sz="5100" dirty="0">
              <a:latin typeface="Aptos"/>
            </a:endParaRPr>
          </a:p>
        </p:txBody>
      </p:sp>
      <p:sp>
        <p:nvSpPr>
          <p:cNvPr id="5" name="Subtitle 2"/>
          <p:cNvSpPr>
            <a:spLocks noGrp="1"/>
          </p:cNvSpPr>
          <p:nvPr/>
        </p:nvSpPr>
        <p:spPr>
          <a:xfrm>
            <a:off x="594126" y="3739889"/>
            <a:ext cx="4571431"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b="1" cap="all" dirty="0" smtClean="0"/>
              <a:t>: Subhasish sahoo</a:t>
            </a:r>
            <a:endParaRPr lang="en-US" sz="1600" b="1" cap="all" dirty="0"/>
          </a:p>
          <a:p>
            <a:pPr algn="l">
              <a:spcAft>
                <a:spcPts val="600"/>
              </a:spcAft>
            </a:pPr>
            <a:r>
              <a:rPr lang="en-US" sz="1600" b="1" cap="all" dirty="0"/>
              <a:t>College </a:t>
            </a:r>
            <a:r>
              <a:rPr lang="en-US" sz="1600" b="1" cap="all" dirty="0" smtClean="0"/>
              <a:t>Name:KIIT</a:t>
            </a:r>
            <a:endParaRPr lang="en-US" sz="1600" b="1" cap="all" dirty="0"/>
          </a:p>
          <a:p>
            <a:pPr algn="l">
              <a:spcAft>
                <a:spcPts val="600"/>
              </a:spcAft>
            </a:pPr>
            <a:r>
              <a:rPr lang="en-US" sz="1600" b="1" cap="all" dirty="0" smtClean="0"/>
              <a:t>Department:ECSE</a:t>
            </a:r>
            <a:endParaRPr lang="en-US" sz="1600" b="1" cap="all" dirty="0"/>
          </a:p>
          <a:p>
            <a:pPr algn="l">
              <a:spcAft>
                <a:spcPts val="600"/>
              </a:spcAft>
            </a:pPr>
            <a:r>
              <a:rPr lang="en-US" sz="1600" b="1" cap="all" dirty="0"/>
              <a:t>Email </a:t>
            </a:r>
            <a:r>
              <a:rPr lang="en-US" sz="1600" b="1" cap="all" dirty="0" smtClean="0"/>
              <a:t>ID:sahoorahul377@gmail.com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0786" y="963029"/>
            <a:ext cx="3949191" cy="4936489"/>
          </a:xfrm>
          <a:prstGeom prst="rect">
            <a:avLst/>
          </a:prstGeom>
        </p:spPr>
      </p:pic>
      <p:sp>
        <p:nvSpPr>
          <p:cNvPr id="6" name="TextBox 5"/>
          <p:cNvSpPr txBox="1"/>
          <p:nvPr/>
        </p:nvSpPr>
        <p:spPr>
          <a:xfrm>
            <a:off x="815546" y="1869989"/>
            <a:ext cx="184731" cy="369332"/>
          </a:xfrm>
          <a:prstGeom prst="rect">
            <a:avLst/>
          </a:prstGeom>
          <a:noFill/>
        </p:spPr>
        <p:txBody>
          <a:bodyPr wrap="none" rtlCol="0">
            <a:spAutoFit/>
          </a:bodyPr>
          <a:lstStyle/>
          <a:p>
            <a:endParaRPr lang="en-IN" dirty="0"/>
          </a:p>
        </p:txBody>
      </p:sp>
      <p:sp>
        <p:nvSpPr>
          <p:cNvPr id="7" name="Rectangle 6"/>
          <p:cNvSpPr/>
          <p:nvPr/>
        </p:nvSpPr>
        <p:spPr>
          <a:xfrm>
            <a:off x="373513" y="1531043"/>
            <a:ext cx="5289349" cy="1938992"/>
          </a:xfrm>
          <a:prstGeom prst="rect">
            <a:avLst/>
          </a:prstGeom>
        </p:spPr>
        <p:txBody>
          <a:bodyPr wrap="square">
            <a:spAutoFit/>
          </a:bodyPr>
          <a:lstStyle/>
          <a:p>
            <a:r>
              <a:rPr lang="en-US" sz="3000" b="1" dirty="0">
                <a:latin typeface="Felix Titling" panose="04060505060202020A04" pitchFamily="82" charset="0"/>
              </a:rPr>
              <a:t>Airline Customer Behavior Analytics Dashboard using Power BI</a:t>
            </a:r>
            <a:endParaRPr lang="en-IN" sz="3000" b="1" dirty="0">
              <a:latin typeface="Felix Titling" panose="04060505060202020A04" pitchFamily="82"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Airlines handle a large number of passengers every day, making it difficult to understand customer behavior and satisfaction levels. Passenger experience is influenced by several factors such as travel class, service quality, and flight delays.</a:t>
            </a:r>
          </a:p>
          <a:p>
            <a:pPr marL="0" indent="0">
              <a:buNone/>
            </a:pPr>
            <a:r>
              <a:rPr lang="en-US" sz="2400" dirty="0"/>
              <a:t>Although airlines collect a huge amount of passenger data, it is not easy to extract meaningful insights from the raw data without proper analytical tools. Understanding what affects passenger satisfaction is important for improving airline services and enhancing the overall travel experience.</a:t>
            </a:r>
          </a:p>
          <a:p>
            <a:pPr marL="0" indent="0">
              <a:buNone/>
            </a:pPr>
            <a:r>
              <a:rPr lang="en-US" sz="2400" dirty="0"/>
              <a:t>Therefore, there is a need for a system that can analyze passenger data and provide clear insights into customer behavior and service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085841"/>
          </a:xfrm>
        </p:spPr>
        <p:txBody>
          <a:bodyPr vert="horz" lIns="91440" tIns="45720" rIns="91440" bIns="45720" rtlCol="0" anchor="t">
            <a:noAutofit/>
          </a:bodyPr>
          <a:lstStyle/>
          <a:p>
            <a:pPr marL="0" indent="0">
              <a:buNone/>
            </a:pPr>
            <a:r>
              <a:rPr lang="en-US" sz="2400" dirty="0"/>
              <a:t>Airlines handle a large number of passengers every day, making it difficult to understand customer behavior and satisfaction levels. Passenger experience is influenced by several factors such as travel class, service quality, and flight delays.</a:t>
            </a:r>
          </a:p>
          <a:p>
            <a:pPr marL="0" indent="0">
              <a:buNone/>
            </a:pPr>
            <a:r>
              <a:rPr lang="en-US" sz="2400" dirty="0"/>
              <a:t>Although airlines collect a huge amount of passenger data, it is not easy to extract meaningful insights from the raw data without proper analytical tools. Understanding what affects passenger satisfaction is important for improving airline services and enhancing the overall travel experience.</a:t>
            </a:r>
          </a:p>
          <a:p>
            <a:pPr marL="0" indent="0">
              <a:buNone/>
            </a:pPr>
            <a:r>
              <a:rPr lang="en-US" sz="2400" dirty="0"/>
              <a:t>Therefore, there is a need for a system that can analyze passenger data and provide clear insights into customer behavior and service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8" y="1715586"/>
            <a:ext cx="11601875" cy="4637088"/>
          </a:xfrm>
        </p:spPr>
        <p:txBody>
          <a:bodyPr vert="horz" lIns="91440" tIns="45720" rIns="91440" bIns="45720" rtlCol="0">
            <a:normAutofit fontScale="92500" lnSpcReduction="10000"/>
          </a:bodyPr>
          <a:lstStyle/>
          <a:p>
            <a:pPr marL="0" indent="0">
              <a:buNone/>
            </a:pPr>
            <a:r>
              <a:rPr lang="en-US" sz="2400" dirty="0"/>
              <a:t>The project was developed using </a:t>
            </a:r>
            <a:r>
              <a:rPr lang="en-US" sz="2400" b="1" dirty="0"/>
              <a:t>Power BI</a:t>
            </a:r>
            <a:r>
              <a:rPr lang="en-US" sz="2400" dirty="0"/>
              <a:t>, which is a powerful tool for data analysis and visualization.</a:t>
            </a:r>
          </a:p>
          <a:p>
            <a:pPr marL="0" indent="0">
              <a:buNone/>
            </a:pPr>
            <a:r>
              <a:rPr lang="en-US" sz="2400" dirty="0"/>
              <a:t>The development process included the following steps:</a:t>
            </a:r>
          </a:p>
          <a:p>
            <a:r>
              <a:rPr lang="en-US" sz="2400" dirty="0"/>
              <a:t>Collecting the airline passenger dataset.</a:t>
            </a:r>
          </a:p>
          <a:p>
            <a:r>
              <a:rPr lang="en-US" sz="2400" dirty="0"/>
              <a:t>Cleaning and preparing the dataset using Power Query.</a:t>
            </a:r>
          </a:p>
          <a:p>
            <a:r>
              <a:rPr lang="en-US" sz="2400" dirty="0"/>
              <a:t>Creating additional columns to better analyze passenger behavior.</a:t>
            </a:r>
          </a:p>
          <a:p>
            <a:r>
              <a:rPr lang="en-US" sz="2400" dirty="0"/>
              <a:t>Developing analytical measures using DAX.</a:t>
            </a:r>
          </a:p>
          <a:p>
            <a:r>
              <a:rPr lang="en-US" sz="2400" dirty="0"/>
              <a:t>Designing an interactive dashboard with multiple visualizations.</a:t>
            </a:r>
          </a:p>
          <a:p>
            <a:pPr marL="0" indent="0">
              <a:buNone/>
            </a:pPr>
            <a:r>
              <a:rPr lang="en-US" sz="2400" b="1" dirty="0"/>
              <a:t>Tools Used</a:t>
            </a:r>
          </a:p>
          <a:p>
            <a:pPr marL="0" indent="0">
              <a:buNone/>
            </a:pPr>
            <a:r>
              <a:rPr lang="en-US" sz="2400" dirty="0"/>
              <a:t>• Power BI Desktop – Dashboard creation and data visualization</a:t>
            </a:r>
            <a:br>
              <a:rPr lang="en-US" sz="2400" dirty="0"/>
            </a:br>
            <a:r>
              <a:rPr lang="en-US" sz="2400" dirty="0"/>
              <a:t>• Power Query – Data cleaning and transformation</a:t>
            </a:r>
            <a:br>
              <a:rPr lang="en-US" sz="2400" dirty="0"/>
            </a:br>
            <a:r>
              <a:rPr lang="en-US" sz="2400" dirty="0"/>
              <a:t>• DAX – Creating calculated measures and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5262" y="1362309"/>
            <a:ext cx="7523747" cy="4232108"/>
          </a:xfrm>
          <a:prstGeom prst="rect">
            <a:avLst/>
          </a:prstGeom>
        </p:spPr>
      </p:pic>
      <p:sp>
        <p:nvSpPr>
          <p:cNvPr id="5" name="TextBox 4"/>
          <p:cNvSpPr txBox="1"/>
          <p:nvPr/>
        </p:nvSpPr>
        <p:spPr>
          <a:xfrm>
            <a:off x="2518611" y="5733978"/>
            <a:ext cx="6760184" cy="523220"/>
          </a:xfrm>
          <a:prstGeom prst="rect">
            <a:avLst/>
          </a:prstGeom>
          <a:noFill/>
        </p:spPr>
        <p:txBody>
          <a:bodyPr wrap="none" rtlCol="0">
            <a:spAutoFit/>
          </a:bodyPr>
          <a:lstStyle/>
          <a:p>
            <a:r>
              <a:rPr lang="en-IN" sz="2800" b="1" dirty="0"/>
              <a:t>Airline Passenger Satisfaction Dataset</a:t>
            </a:r>
          </a:p>
        </p:txBody>
      </p:sp>
    </p:spTree>
    <p:extLst>
      <p:ext uri="{BB962C8B-B14F-4D97-AF65-F5344CB8AC3E}">
        <p14:creationId xmlns:p14="http://schemas.microsoft.com/office/powerpoint/2010/main" val="23437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699" y="1572195"/>
            <a:ext cx="11540289" cy="4700267"/>
          </a:xfrm>
        </p:spPr>
        <p:txBody>
          <a:bodyPr vert="horz" lIns="91440" tIns="45720" rIns="91440" bIns="45720" rtlCol="0">
            <a:noAutofit/>
          </a:bodyPr>
          <a:lstStyle/>
          <a:p>
            <a:pPr marL="0" indent="0">
              <a:buNone/>
            </a:pPr>
            <a:r>
              <a:rPr lang="en-US" sz="2400" dirty="0"/>
              <a:t>Before building the dashboard, the dataset was cleaned and transformed to make it suitable for analysis.</a:t>
            </a:r>
          </a:p>
          <a:p>
            <a:pPr marL="0" indent="0">
              <a:buNone/>
            </a:pPr>
            <a:r>
              <a:rPr lang="en-US" sz="2400" dirty="0"/>
              <a:t>Data preprocessing involved checking column data types, handling missing values, and preparing the dataset for visualization.</a:t>
            </a:r>
          </a:p>
          <a:p>
            <a:pPr marL="0" indent="0">
              <a:buNone/>
            </a:pPr>
            <a:r>
              <a:rPr lang="en-US" sz="2400" dirty="0"/>
              <a:t>Two additional columns were created to improve analysis:</a:t>
            </a:r>
          </a:p>
          <a:p>
            <a:pPr marL="0" indent="0">
              <a:buNone/>
            </a:pPr>
            <a:r>
              <a:rPr lang="en-US" sz="2400" dirty="0"/>
              <a:t>• </a:t>
            </a:r>
            <a:r>
              <a:rPr lang="en-US" sz="2400" b="1" dirty="0"/>
              <a:t>Delay Category</a:t>
            </a:r>
            <a:r>
              <a:rPr lang="en-US" sz="2400" dirty="0"/>
              <a:t> – to classify flights into On Time, Minor Delay, Moderate Delay, and Severe Delay.</a:t>
            </a:r>
            <a:br>
              <a:rPr lang="en-US" sz="2400" dirty="0"/>
            </a:br>
            <a:r>
              <a:rPr lang="en-US" sz="2400" dirty="0"/>
              <a:t>• </a:t>
            </a:r>
            <a:r>
              <a:rPr lang="en-US" sz="2400" b="1" dirty="0"/>
              <a:t>Age Group</a:t>
            </a:r>
            <a:r>
              <a:rPr lang="en-US" sz="2400" dirty="0"/>
              <a:t> – to categorize passengers based on age.</a:t>
            </a:r>
          </a:p>
          <a:p>
            <a:pPr marL="0" indent="0">
              <a:buNone/>
            </a:pPr>
            <a:r>
              <a:rPr lang="en-US" sz="2400" dirty="0"/>
              <a:t>These columns help analyze customer behavior more effectively.</a:t>
            </a:r>
          </a:p>
          <a:p>
            <a:pPr marL="0" indent="0">
              <a:buNone/>
            </a:pPr>
            <a:r>
              <a:rPr lang="en-US" sz="2400" dirty="0"/>
              <a:t>Several DAX measures were also created to calculate key metrics such as total passengers, average flight delay, average flight distance, and satisfaction 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4412" y="1571625"/>
            <a:ext cx="6304113" cy="4700588"/>
          </a:xfr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5" y="1349375"/>
            <a:ext cx="4594856" cy="3426100"/>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25552" t="24625" r="20840" b="5946"/>
          <a:stretch/>
        </p:blipFill>
        <p:spPr>
          <a:xfrm>
            <a:off x="5920740" y="3393989"/>
            <a:ext cx="996694" cy="3165324"/>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21009" y="1507524"/>
            <a:ext cx="2986044" cy="1886465"/>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37208" y="1571625"/>
            <a:ext cx="2551431" cy="1601243"/>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t="1176" r="25825"/>
          <a:stretch/>
        </p:blipFill>
        <p:spPr>
          <a:xfrm>
            <a:off x="10984024" y="3393989"/>
            <a:ext cx="823029" cy="2813978"/>
          </a:xfrm>
          <a:prstGeom prst="rect">
            <a:avLst/>
          </a:prstGeom>
        </p:spPr>
      </p:pic>
      <p:sp>
        <p:nvSpPr>
          <p:cNvPr id="14" name="TextBox 13"/>
          <p:cNvSpPr txBox="1"/>
          <p:nvPr/>
        </p:nvSpPr>
        <p:spPr>
          <a:xfrm>
            <a:off x="288324" y="4976651"/>
            <a:ext cx="3890809" cy="369332"/>
          </a:xfrm>
          <a:prstGeom prst="rect">
            <a:avLst/>
          </a:prstGeom>
          <a:noFill/>
        </p:spPr>
        <p:txBody>
          <a:bodyPr wrap="none" rtlCol="0">
            <a:spAutoFit/>
          </a:bodyPr>
          <a:lstStyle/>
          <a:p>
            <a:r>
              <a:rPr lang="en-US" b="1" dirty="0"/>
              <a:t>Data Cleaning using Power Query</a:t>
            </a:r>
            <a:endParaRPr lang="en-IN" b="1" dirty="0"/>
          </a:p>
        </p:txBody>
      </p:sp>
      <p:sp>
        <p:nvSpPr>
          <p:cNvPr id="15" name="Rectangle 14"/>
          <p:cNvSpPr/>
          <p:nvPr/>
        </p:nvSpPr>
        <p:spPr>
          <a:xfrm>
            <a:off x="6775221" y="4399375"/>
            <a:ext cx="4018684" cy="646331"/>
          </a:xfrm>
          <a:prstGeom prst="rect">
            <a:avLst/>
          </a:prstGeom>
        </p:spPr>
        <p:txBody>
          <a:bodyPr wrap="square">
            <a:spAutoFit/>
          </a:bodyPr>
          <a:lstStyle/>
          <a:p>
            <a:pPr algn="ctr"/>
            <a:r>
              <a:rPr lang="en-US" b="1" dirty="0"/>
              <a:t>Feature Engineering – Delay Category &amp; Age Group</a:t>
            </a:r>
            <a:endParaRPr lang="en-IN" b="1" dirty="0"/>
          </a:p>
        </p:txBody>
      </p:sp>
    </p:spTree>
    <p:extLst>
      <p:ext uri="{BB962C8B-B14F-4D97-AF65-F5344CB8AC3E}">
        <p14:creationId xmlns:p14="http://schemas.microsoft.com/office/powerpoint/2010/main" val="369011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flipH="1" flipV="1">
            <a:off x="-197710" y="65901"/>
            <a:ext cx="45719" cy="45719"/>
          </a:xfr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12" y="1349375"/>
            <a:ext cx="5864722" cy="889471"/>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12" y="2522516"/>
            <a:ext cx="5039428" cy="30484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712" y="2953844"/>
            <a:ext cx="4839375" cy="314369"/>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712" y="3465151"/>
            <a:ext cx="3019846" cy="257211"/>
          </a:xfrm>
          <a:prstGeom prst="rect">
            <a:avLst/>
          </a:prstGeom>
        </p:spPr>
      </p:pic>
      <p:sp>
        <p:nvSpPr>
          <p:cNvPr id="20" name="Rectangle 19"/>
          <p:cNvSpPr/>
          <p:nvPr/>
        </p:nvSpPr>
        <p:spPr>
          <a:xfrm>
            <a:off x="3127558" y="3348654"/>
            <a:ext cx="7806611" cy="369332"/>
          </a:xfrm>
          <a:prstGeom prst="rect">
            <a:avLst/>
          </a:prstGeom>
        </p:spPr>
        <p:txBody>
          <a:bodyPr wrap="square">
            <a:spAutoFit/>
          </a:bodyPr>
          <a:lstStyle/>
          <a:p>
            <a:r>
              <a:rPr lang="en-US" dirty="0"/>
              <a:t>Used to show the </a:t>
            </a:r>
            <a:r>
              <a:rPr lang="en-US" b="1" dirty="0"/>
              <a:t>total number of passengers</a:t>
            </a:r>
            <a:r>
              <a:rPr lang="en-US" dirty="0"/>
              <a:t> in KPI cards and charts.</a:t>
            </a:r>
            <a:endParaRPr lang="en-IN" dirty="0"/>
          </a:p>
        </p:txBody>
      </p:sp>
      <p:sp>
        <p:nvSpPr>
          <p:cNvPr id="21" name="Rectangle 20"/>
          <p:cNvSpPr/>
          <p:nvPr/>
        </p:nvSpPr>
        <p:spPr>
          <a:xfrm>
            <a:off x="5098296" y="2901627"/>
            <a:ext cx="5416113" cy="307777"/>
          </a:xfrm>
          <a:prstGeom prst="rect">
            <a:avLst/>
          </a:prstGeom>
        </p:spPr>
        <p:txBody>
          <a:bodyPr wrap="square">
            <a:spAutoFit/>
          </a:bodyPr>
          <a:lstStyle/>
          <a:p>
            <a:r>
              <a:rPr lang="en-US" sz="1400" dirty="0"/>
              <a:t>Helps analyze the </a:t>
            </a:r>
            <a:r>
              <a:rPr lang="en-US" sz="1400" b="1" dirty="0"/>
              <a:t>overall delay experienced by passengers</a:t>
            </a:r>
            <a:r>
              <a:rPr lang="en-US" sz="1400" dirty="0"/>
              <a:t>.</a:t>
            </a:r>
            <a:endParaRPr lang="en-IN" sz="1400" dirty="0"/>
          </a:p>
        </p:txBody>
      </p:sp>
      <p:sp>
        <p:nvSpPr>
          <p:cNvPr id="22" name="Rectangle 21"/>
          <p:cNvSpPr/>
          <p:nvPr/>
        </p:nvSpPr>
        <p:spPr>
          <a:xfrm>
            <a:off x="5098296" y="2413278"/>
            <a:ext cx="5711820" cy="369332"/>
          </a:xfrm>
          <a:prstGeom prst="rect">
            <a:avLst/>
          </a:prstGeom>
        </p:spPr>
        <p:txBody>
          <a:bodyPr wrap="none">
            <a:spAutoFit/>
          </a:bodyPr>
          <a:lstStyle/>
          <a:p>
            <a:r>
              <a:rPr lang="en-US" dirty="0"/>
              <a:t>Used to understand </a:t>
            </a:r>
            <a:r>
              <a:rPr lang="en-US" b="1" dirty="0"/>
              <a:t>typical travel distance patterns</a:t>
            </a:r>
            <a:r>
              <a:rPr lang="en-US" dirty="0"/>
              <a:t>.</a:t>
            </a:r>
            <a:endParaRPr lang="en-IN" dirty="0"/>
          </a:p>
        </p:txBody>
      </p:sp>
      <p:sp>
        <p:nvSpPr>
          <p:cNvPr id="23" name="Rectangle 22"/>
          <p:cNvSpPr/>
          <p:nvPr/>
        </p:nvSpPr>
        <p:spPr>
          <a:xfrm>
            <a:off x="5972434" y="1477902"/>
            <a:ext cx="5480988" cy="369332"/>
          </a:xfrm>
          <a:prstGeom prst="rect">
            <a:avLst/>
          </a:prstGeom>
        </p:spPr>
        <p:txBody>
          <a:bodyPr wrap="none">
            <a:spAutoFit/>
          </a:bodyPr>
          <a:lstStyle/>
          <a:p>
            <a:r>
              <a:rPr lang="en-US" dirty="0"/>
              <a:t>Measures the </a:t>
            </a:r>
            <a:r>
              <a:rPr lang="en-US" b="1" dirty="0"/>
              <a:t>overall customer satisfaction level</a:t>
            </a:r>
            <a:r>
              <a:rPr lang="en-US" dirty="0"/>
              <a:t>.</a:t>
            </a:r>
            <a:endParaRPr lang="en-IN" dirty="0"/>
          </a:p>
        </p:txBody>
      </p:sp>
      <p:pic>
        <p:nvPicPr>
          <p:cNvPr id="24" name="Picture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72151" y="4033018"/>
            <a:ext cx="3661799" cy="2099579"/>
          </a:xfrm>
          <a:prstGeom prst="rect">
            <a:avLst/>
          </a:prstGeom>
        </p:spPr>
      </p:pic>
      <p:sp>
        <p:nvSpPr>
          <p:cNvPr id="25" name="Rectangle 24"/>
          <p:cNvSpPr/>
          <p:nvPr/>
        </p:nvSpPr>
        <p:spPr>
          <a:xfrm>
            <a:off x="417095" y="4205644"/>
            <a:ext cx="6096000" cy="1754326"/>
          </a:xfrm>
          <a:prstGeom prst="rect">
            <a:avLst/>
          </a:prstGeom>
        </p:spPr>
        <p:txBody>
          <a:bodyPr>
            <a:spAutoFit/>
          </a:bodyPr>
          <a:lstStyle/>
          <a:p>
            <a:r>
              <a:rPr lang="en-US" dirty="0"/>
              <a:t>DAX measures were created to calculate key performance indicators such as total passengers, average delay, average flight distance, and passenger satisfaction rate. These measures help analyze airline passenger behavior and service performance through interactive visualizations.</a:t>
            </a:r>
            <a:endParaRPr lang="en-IN" dirty="0"/>
          </a:p>
        </p:txBody>
      </p:sp>
      <p:sp>
        <p:nvSpPr>
          <p:cNvPr id="26" name="Rectangle 25"/>
          <p:cNvSpPr/>
          <p:nvPr/>
        </p:nvSpPr>
        <p:spPr>
          <a:xfrm>
            <a:off x="3383741" y="3730699"/>
            <a:ext cx="4862357" cy="400110"/>
          </a:xfrm>
          <a:prstGeom prst="rect">
            <a:avLst/>
          </a:prstGeom>
        </p:spPr>
        <p:txBody>
          <a:bodyPr wrap="none">
            <a:spAutoFit/>
          </a:bodyPr>
          <a:lstStyle/>
          <a:p>
            <a:r>
              <a:rPr lang="en-US" sz="2000" b="1" u="sng" dirty="0"/>
              <a:t>DAX Measures for Customer Analytics</a:t>
            </a:r>
            <a:endParaRPr lang="en-IN" sz="2000" b="1" u="sng" dirty="0"/>
          </a:p>
        </p:txBody>
      </p:sp>
    </p:spTree>
    <p:extLst>
      <p:ext uri="{BB962C8B-B14F-4D97-AF65-F5344CB8AC3E}">
        <p14:creationId xmlns:p14="http://schemas.microsoft.com/office/powerpoint/2010/main" val="2670098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r>
              <a:rPr lang="en-US" sz="2400" dirty="0"/>
              <a:t>The Power BI dashboard provides several visualizations that help understand passenger behavior and satisfaction.</a:t>
            </a:r>
          </a:p>
          <a:p>
            <a:r>
              <a:rPr lang="en-US" sz="2400" dirty="0"/>
              <a:t>The dashboard includes charts that show the distribution of satisfied and dissatisfied passengers, the difference between loyal and disloyal customers, and how flight delays affect passenger satisfaction.</a:t>
            </a:r>
          </a:p>
          <a:p>
            <a:r>
              <a:rPr lang="en-US" sz="2400" dirty="0"/>
              <a:t>It also highlights how service quality factors such as seat comfort and inflight service influence the passenger experience.</a:t>
            </a:r>
          </a:p>
          <a:p>
            <a:r>
              <a:rPr lang="en-US" sz="2400" dirty="0"/>
              <a:t>These visual insights make it easier to understand patterns in the data and identify areas where airlines can improve their services.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V="1">
            <a:off x="-802106" y="-29224"/>
            <a:ext cx="0" cy="52259"/>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706" y="1456182"/>
            <a:ext cx="5341639" cy="219661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272" y="1456182"/>
            <a:ext cx="4286434" cy="2974708"/>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272" y="4430890"/>
            <a:ext cx="3322003" cy="2041325"/>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5275" y="4465853"/>
            <a:ext cx="7699210" cy="1932121"/>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32969" y="2198151"/>
            <a:ext cx="2762880" cy="1489605"/>
          </a:xfrm>
          <a:prstGeom prst="rect">
            <a:avLst/>
          </a:prstGeom>
        </p:spPr>
      </p:pic>
    </p:spTree>
    <p:extLst>
      <p:ext uri="{BB962C8B-B14F-4D97-AF65-F5344CB8AC3E}">
        <p14:creationId xmlns:p14="http://schemas.microsoft.com/office/powerpoint/2010/main" val="271090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V="1">
            <a:off x="-802106" y="-29224"/>
            <a:ext cx="0" cy="52259"/>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427" y="1335558"/>
            <a:ext cx="7981131" cy="5193021"/>
          </a:xfrm>
          <a:prstGeom prst="rect">
            <a:avLst/>
          </a:prstGeom>
        </p:spPr>
      </p:pic>
      <p:sp>
        <p:nvSpPr>
          <p:cNvPr id="4" name="Rectangle 3"/>
          <p:cNvSpPr/>
          <p:nvPr/>
        </p:nvSpPr>
        <p:spPr>
          <a:xfrm>
            <a:off x="8213558" y="1335558"/>
            <a:ext cx="3889019" cy="5262979"/>
          </a:xfrm>
          <a:prstGeom prst="rect">
            <a:avLst/>
          </a:prstGeom>
        </p:spPr>
        <p:txBody>
          <a:bodyPr wrap="square">
            <a:spAutoFit/>
          </a:bodyPr>
          <a:lstStyle/>
          <a:p>
            <a:r>
              <a:rPr lang="en-US" sz="1400" dirty="0"/>
              <a:t>The final Power BI dashboard provides a comprehensive overview of airline passenger behavior and service quality. The dashboard integrates multiple visualizations and key performance indicators to help analyze passenger satisfaction and operational factors affecting customer experience.</a:t>
            </a:r>
          </a:p>
          <a:p>
            <a:r>
              <a:rPr lang="en-US" sz="1400" dirty="0"/>
              <a:t>The dashboard highlights important metrics such as total passengers, average flight delay, average flight distance, and overall satisfaction rate. It also includes charts that show passenger satisfaction distribution, customer type distribution, and the impact of flight delays on passenger satisfaction.</a:t>
            </a:r>
          </a:p>
          <a:p>
            <a:r>
              <a:rPr lang="en-US" sz="1400" dirty="0"/>
              <a:t>Interactive filters allow users to explore the dataset by gender, customer type, travel class, age group, and delay category. These filters enable deeper analysis of different passenger segments and help identify patterns in customer behavior.</a:t>
            </a:r>
          </a:p>
          <a:p>
            <a:r>
              <a:rPr lang="en-US" sz="1400" dirty="0"/>
              <a:t>The dashboard provides valuable insights that can help airline companies understand passenger expectations and improve service quality.</a:t>
            </a:r>
          </a:p>
        </p:txBody>
      </p:sp>
    </p:spTree>
    <p:extLst>
      <p:ext uri="{BB962C8B-B14F-4D97-AF65-F5344CB8AC3E}">
        <p14:creationId xmlns:p14="http://schemas.microsoft.com/office/powerpoint/2010/main" val="1570840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r>
              <a:rPr lang="en-US" sz="2400" dirty="0"/>
              <a:t>This project demonstrates how Power BI can be used to analyze airline passenger data and gain valuable insights into customer behavior and service quality.</a:t>
            </a:r>
          </a:p>
          <a:p>
            <a:r>
              <a:rPr lang="en-US" sz="2400" dirty="0"/>
              <a:t>The dashboard highlights important factors that affect passenger satisfaction, such as travel class, service ratings, and flight delays. By visualizing this information clearly, the dashboard helps airlines understand passenger expectations and improve their services.</a:t>
            </a:r>
          </a:p>
          <a:p>
            <a:r>
              <a:rPr lang="en-US" sz="2400" dirty="0"/>
              <a:t>Overall, the project shows how data analytics can support better decision-making and enhance the passenger experience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2128577"/>
          </a:xfrm>
        </p:spPr>
        <p:txBody>
          <a:bodyPr vert="horz" lIns="91440" tIns="45720" rIns="91440" bIns="45720" rtlCol="0">
            <a:normAutofit/>
          </a:bodyPr>
          <a:lstStyle/>
          <a:p>
            <a:r>
              <a:rPr lang="en-US" sz="2400" dirty="0"/>
              <a:t>In the future, the project can be expanded by integrating real-time airline operational data. Advanced analytics techniques such as machine learning could also be used to predict passenger satisfaction and flight delays.</a:t>
            </a:r>
          </a:p>
          <a:p>
            <a:r>
              <a:rPr lang="en-US" sz="2400" dirty="0"/>
              <a:t>Additional datasets could be included to provide deeper insights into airline performance and customer behavior.</a:t>
            </a:r>
          </a:p>
        </p:txBody>
      </p:sp>
      <p:sp>
        <p:nvSpPr>
          <p:cNvPr id="4" name="TextBox 3"/>
          <p:cNvSpPr txBox="1"/>
          <p:nvPr/>
        </p:nvSpPr>
        <p:spPr>
          <a:xfrm>
            <a:off x="673769" y="4122821"/>
            <a:ext cx="4609431" cy="646331"/>
          </a:xfrm>
          <a:prstGeom prst="rect">
            <a:avLst/>
          </a:prstGeom>
          <a:noFill/>
        </p:spPr>
        <p:txBody>
          <a:bodyPr wrap="square" rtlCol="0">
            <a:spAutoFit/>
          </a:bodyPr>
          <a:lstStyle/>
          <a:p>
            <a:r>
              <a:rPr lang="en-IN" dirty="0"/>
              <a:t>LINK FOR THE POWER BI FILE </a:t>
            </a:r>
            <a:r>
              <a:rPr lang="en-IN" dirty="0" smtClean="0"/>
              <a:t>:</a:t>
            </a:r>
            <a:r>
              <a:rPr lang="en-IN" dirty="0" smtClean="0">
                <a:hlinkClick r:id="rId2"/>
              </a:rPr>
              <a:t>LINK</a:t>
            </a:r>
            <a:endParaRPr lang="en-IN" dirty="0"/>
          </a:p>
          <a:p>
            <a:r>
              <a:rPr lang="en-IN" dirty="0" smtClean="0"/>
              <a:t>LINK FOR THE </a:t>
            </a:r>
            <a:r>
              <a:rPr lang="en-IN" dirty="0" err="1" smtClean="0"/>
              <a:t>ppt</a:t>
            </a:r>
            <a:r>
              <a:rPr lang="en-IN" dirty="0"/>
              <a:t>: </a:t>
            </a:r>
            <a:r>
              <a:rPr lang="en-IN" dirty="0" smtClean="0">
                <a:hlinkClick r:id="rId3"/>
              </a:rPr>
              <a:t>LINK</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400" b="1" dirty="0"/>
              <a:t>Airline Passenger Satisfaction Dataset</a:t>
            </a:r>
            <a:r>
              <a:rPr lang="en-IN" sz="2400" dirty="0"/>
              <a:t/>
            </a:r>
            <a:br>
              <a:rPr lang="en-IN" sz="2400" dirty="0"/>
            </a:br>
            <a:r>
              <a:rPr lang="en-IN" sz="2400" dirty="0" err="1"/>
              <a:t>Kaggle</a:t>
            </a:r>
            <a:r>
              <a:rPr lang="en-IN" sz="2400" dirty="0"/>
              <a:t/>
            </a:r>
            <a:br>
              <a:rPr lang="en-IN" sz="2400" dirty="0"/>
            </a:br>
            <a:r>
              <a:rPr lang="en-IN" sz="2400" dirty="0">
                <a:hlinkClick r:id="rId2"/>
              </a:rPr>
              <a:t>https://www.kaggle.com/datasets/teejmahal20/airline-passenger-satisfaction</a:t>
            </a:r>
            <a:endParaRPr lang="en-IN" sz="2400" dirty="0"/>
          </a:p>
          <a:p>
            <a:r>
              <a:rPr lang="en-IN" sz="2400" b="1" dirty="0"/>
              <a:t>Microsoft Power BI Documentation</a:t>
            </a:r>
            <a:r>
              <a:rPr lang="en-IN" sz="2400" dirty="0"/>
              <a:t/>
            </a:r>
            <a:br>
              <a:rPr lang="en-IN" sz="2400" dirty="0"/>
            </a:br>
            <a:r>
              <a:rPr lang="en-IN" sz="2400" dirty="0">
                <a:hlinkClick r:id="rId3"/>
              </a:rPr>
              <a:t>https://learn.microsoft.com/en-us/power-bi/</a:t>
            </a:r>
            <a:endParaRPr lang="en-IN" sz="2400" dirty="0"/>
          </a:p>
          <a:p>
            <a:r>
              <a:rPr lang="en-IN" sz="2400" b="1" dirty="0"/>
              <a:t>Power BI Data Visualization Guide</a:t>
            </a:r>
            <a:r>
              <a:rPr lang="en-IN" sz="2400" dirty="0"/>
              <a:t/>
            </a:r>
            <a:br>
              <a:rPr lang="en-IN" sz="2400" dirty="0"/>
            </a:br>
            <a:r>
              <a:rPr lang="en-IN" sz="2400" dirty="0">
                <a:hlinkClick r:id="rId4"/>
              </a:rPr>
              <a:t>https://learn.microsoft.com/en-us/power-bi/visuals/power-bi-report-add-visualizations</a:t>
            </a:r>
            <a:endParaRPr lang="en-IN" sz="2400" dirty="0"/>
          </a:p>
          <a:p>
            <a:r>
              <a:rPr lang="en-IN" sz="2400" b="1" dirty="0"/>
              <a:t>DAX (Data Analysis Expressions) Documentation</a:t>
            </a:r>
            <a:r>
              <a:rPr lang="en-IN" sz="2400" dirty="0"/>
              <a:t/>
            </a:r>
            <a:br>
              <a:rPr lang="en-IN" sz="2400" dirty="0"/>
            </a:br>
            <a:r>
              <a:rPr lang="en-IN" sz="2400" dirty="0">
                <a:hlinkClick r:id="rId5"/>
              </a:rPr>
              <a:t>https://learn.microsoft.com/en-us/dax/</a:t>
            </a:r>
            <a:endParaRPr lang="en-IN"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1035</Words>
  <Application>Microsoft Office PowerPoint</Application>
  <PresentationFormat>Widescreen</PresentationFormat>
  <Paragraphs>81</Paragraphs>
  <Slides>16</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Calibri</vt:lpstr>
      <vt:lpstr>Felix Titling</vt:lpstr>
      <vt:lpstr>1_Office Theme</vt:lpstr>
      <vt:lpstr>Custom Design</vt:lpstr>
      <vt:lpstr>PowerPoint Presentation</vt:lpstr>
      <vt:lpstr>OUTLINE:</vt:lpstr>
      <vt:lpstr>Problem Statement:</vt:lpstr>
      <vt:lpstr>Proposed Solution:</vt:lpstr>
      <vt:lpstr>System  Approach:</vt:lpstr>
      <vt:lpstr>System  Approach:</vt:lpstr>
      <vt:lpstr>Algorithm &amp; Deployment:</vt:lpstr>
      <vt:lpstr>Algorithm &amp; Deployment:</vt:lpstr>
      <vt:lpstr>Algorithm &amp; Deployment:</vt:lpstr>
      <vt:lpstr>Result:</vt:lpstr>
      <vt:lpstr>Result: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Subhasish sahoo</cp:lastModifiedBy>
  <cp:revision>108</cp:revision>
  <dcterms:created xsi:type="dcterms:W3CDTF">2024-05-21T11:55:00Z</dcterms:created>
  <dcterms:modified xsi:type="dcterms:W3CDTF">2026-03-14T20:06:15Z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